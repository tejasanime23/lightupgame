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71" r:id="rId6"/>
    <p:sldId id="284" r:id="rId7"/>
    <p:sldId id="260" r:id="rId8"/>
    <p:sldId id="275" r:id="rId9"/>
    <p:sldId id="272" r:id="rId10"/>
    <p:sldId id="273" r:id="rId11"/>
    <p:sldId id="274" r:id="rId12"/>
    <p:sldId id="276" r:id="rId13"/>
    <p:sldId id="277" r:id="rId14"/>
    <p:sldId id="261" r:id="rId15"/>
    <p:sldId id="278" r:id="rId16"/>
    <p:sldId id="279" r:id="rId17"/>
    <p:sldId id="280" r:id="rId18"/>
    <p:sldId id="281" r:id="rId19"/>
    <p:sldId id="282" r:id="rId20"/>
    <p:sldId id="283" r:id="rId21"/>
    <p:sldId id="285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</p:sldIdLst>
  <p:sldSz cx="18288000" cy="10287000"/>
  <p:notesSz cx="6858000" cy="9144000"/>
  <p:embeddedFontLst>
    <p:embeddedFont>
      <p:font typeface="Calibri (MS)" panose="020B0604020202020204" charset="0"/>
      <p:regular r:id="rId32"/>
    </p:embeddedFont>
    <p:embeddedFont>
      <p:font typeface="Cambria Math" panose="02040503050406030204" pitchFamily="18" charset="0"/>
      <p:regular r:id="rId33"/>
    </p:embeddedFont>
    <p:embeddedFont>
      <p:font typeface="Canva Sans" panose="020B0604020202020204" charset="0"/>
      <p:regular r:id="rId34"/>
    </p:embeddedFont>
    <p:embeddedFont>
      <p:font typeface="Times New Roman Bold" panose="02020803070505020304" pitchFamily="18" charset="0"/>
      <p:regular r:id="rId35"/>
      <p:bold r:id="rId36"/>
    </p:embeddedFont>
    <p:embeddedFont>
      <p:font typeface="Times New Roman MT" panose="020B0604020202020204" charset="0"/>
      <p:regular r:id="rId37"/>
    </p:embeddedFont>
    <p:embeddedFont>
      <p:font typeface="Times New Roman MT Bold" panose="020B060402020202020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E8B08B-0508-4C7F-8B4E-10CD98BB6B17}" v="15" dt="2026-02-18T08:25:17.8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4622" autoAdjust="0"/>
  </p:normalViewPr>
  <p:slideViewPr>
    <p:cSldViewPr>
      <p:cViewPr varScale="1">
        <p:scale>
          <a:sx n="56" d="100"/>
          <a:sy n="56" d="100"/>
        </p:scale>
        <p:origin x="74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pravinap127@gmail.com" userId="3f6c30efd27cbe3d" providerId="LiveId" clId="{D23444A7-A959-4F35-A63E-8C2B33720DE7}"/>
    <pc:docChg chg="undo custSel addSld modSld">
      <pc:chgData name="arunpravinap127@gmail.com" userId="3f6c30efd27cbe3d" providerId="LiveId" clId="{D23444A7-A959-4F35-A63E-8C2B33720DE7}" dt="2026-02-18T08:27:31.339" v="140" actId="122"/>
      <pc:docMkLst>
        <pc:docMk/>
      </pc:docMkLst>
      <pc:sldChg chg="addSp delSp modSp add mod">
        <pc:chgData name="arunpravinap127@gmail.com" userId="3f6c30efd27cbe3d" providerId="LiveId" clId="{D23444A7-A959-4F35-A63E-8C2B33720DE7}" dt="2026-02-18T08:20:45.585" v="67" actId="1076"/>
        <pc:sldMkLst>
          <pc:docMk/>
          <pc:sldMk cId="1653354667" sldId="293"/>
        </pc:sldMkLst>
        <pc:spChg chg="del">
          <ac:chgData name="arunpravinap127@gmail.com" userId="3f6c30efd27cbe3d" providerId="LiveId" clId="{D23444A7-A959-4F35-A63E-8C2B33720DE7}" dt="2026-02-18T08:12:45.818" v="2" actId="478"/>
          <ac:spMkLst>
            <pc:docMk/>
            <pc:sldMk cId="1653354667" sldId="293"/>
            <ac:spMk id="3" creationId="{01059BFD-1EBE-9C9D-B41A-06151B66CE57}"/>
          </ac:spMkLst>
        </pc:spChg>
        <pc:spChg chg="add mod">
          <ac:chgData name="arunpravinap127@gmail.com" userId="3f6c30efd27cbe3d" providerId="LiveId" clId="{D23444A7-A959-4F35-A63E-8C2B33720DE7}" dt="2026-02-18T08:20:45.585" v="67" actId="1076"/>
          <ac:spMkLst>
            <pc:docMk/>
            <pc:sldMk cId="1653354667" sldId="293"/>
            <ac:spMk id="4" creationId="{39F9CA67-3B31-1966-3D7E-AAE0A882B495}"/>
          </ac:spMkLst>
        </pc:spChg>
        <pc:spChg chg="del">
          <ac:chgData name="arunpravinap127@gmail.com" userId="3f6c30efd27cbe3d" providerId="LiveId" clId="{D23444A7-A959-4F35-A63E-8C2B33720DE7}" dt="2026-02-18T08:12:43.555" v="1" actId="478"/>
          <ac:spMkLst>
            <pc:docMk/>
            <pc:sldMk cId="1653354667" sldId="293"/>
            <ac:spMk id="6" creationId="{EDB625E7-6A2B-22FF-AE90-6615EFB16883}"/>
          </ac:spMkLst>
        </pc:spChg>
        <pc:spChg chg="del">
          <ac:chgData name="arunpravinap127@gmail.com" userId="3f6c30efd27cbe3d" providerId="LiveId" clId="{D23444A7-A959-4F35-A63E-8C2B33720DE7}" dt="2026-02-18T08:12:48.308" v="3" actId="478"/>
          <ac:spMkLst>
            <pc:docMk/>
            <pc:sldMk cId="1653354667" sldId="293"/>
            <ac:spMk id="9" creationId="{5BC16B64-49FB-0F57-E993-F97AE8B6375F}"/>
          </ac:spMkLst>
        </pc:spChg>
      </pc:sldChg>
      <pc:sldChg chg="addSp modSp add mod">
        <pc:chgData name="arunpravinap127@gmail.com" userId="3f6c30efd27cbe3d" providerId="LiveId" clId="{D23444A7-A959-4F35-A63E-8C2B33720DE7}" dt="2026-02-18T08:27:31.339" v="140" actId="122"/>
        <pc:sldMkLst>
          <pc:docMk/>
          <pc:sldMk cId="4243287807" sldId="294"/>
        </pc:sldMkLst>
        <pc:spChg chg="add mod">
          <ac:chgData name="arunpravinap127@gmail.com" userId="3f6c30efd27cbe3d" providerId="LiveId" clId="{D23444A7-A959-4F35-A63E-8C2B33720DE7}" dt="2026-02-18T08:26:46.306" v="131" actId="113"/>
          <ac:spMkLst>
            <pc:docMk/>
            <pc:sldMk cId="4243287807" sldId="294"/>
            <ac:spMk id="3" creationId="{CE392A57-2536-157C-4829-BE0F204A40F5}"/>
          </ac:spMkLst>
        </pc:spChg>
        <pc:spChg chg="mod">
          <ac:chgData name="arunpravinap127@gmail.com" userId="3f6c30efd27cbe3d" providerId="LiveId" clId="{D23444A7-A959-4F35-A63E-8C2B33720DE7}" dt="2026-02-18T08:25:51.582" v="114" actId="113"/>
          <ac:spMkLst>
            <pc:docMk/>
            <pc:sldMk cId="4243287807" sldId="294"/>
            <ac:spMk id="4" creationId="{B75A7622-D246-EE84-5438-8B5B5CD562EC}"/>
          </ac:spMkLst>
        </pc:spChg>
        <pc:spChg chg="add mod">
          <ac:chgData name="arunpravinap127@gmail.com" userId="3f6c30efd27cbe3d" providerId="LiveId" clId="{D23444A7-A959-4F35-A63E-8C2B33720DE7}" dt="2026-02-18T08:27:31.339" v="140" actId="122"/>
          <ac:spMkLst>
            <pc:docMk/>
            <pc:sldMk cId="4243287807" sldId="294"/>
            <ac:spMk id="6" creationId="{EF0DC62D-4481-6936-70BD-25205B328B8C}"/>
          </ac:spMkLst>
        </pc:spChg>
        <pc:spChg chg="mod">
          <ac:chgData name="arunpravinap127@gmail.com" userId="3f6c30efd27cbe3d" providerId="LiveId" clId="{D23444A7-A959-4F35-A63E-8C2B33720DE7}" dt="2026-02-18T08:25:14.263" v="105" actId="20577"/>
          <ac:spMkLst>
            <pc:docMk/>
            <pc:sldMk cId="4243287807" sldId="294"/>
            <ac:spMk id="7" creationId="{889AF9FC-BDEF-124E-4FBB-32D15EB0F28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116F0-D388-4A9D-978B-866AC3897BF2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3B8E1-2E74-4236-B4CA-D8E90F4964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75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92444" y="4747231"/>
            <a:ext cx="2011819" cy="3099442"/>
          </a:xfrm>
          <a:custGeom>
            <a:avLst/>
            <a:gdLst/>
            <a:ahLst/>
            <a:cxnLst/>
            <a:rect l="l" t="t" r="r" b="b"/>
            <a:pathLst>
              <a:path w="2011819" h="3099442">
                <a:moveTo>
                  <a:pt x="0" y="0"/>
                </a:moveTo>
                <a:lnTo>
                  <a:pt x="2011819" y="0"/>
                </a:lnTo>
                <a:lnTo>
                  <a:pt x="2011819" y="3099442"/>
                </a:lnTo>
                <a:lnTo>
                  <a:pt x="0" y="3099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5377650" y="2897793"/>
            <a:ext cx="7532699" cy="3698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Light Up </a:t>
            </a:r>
          </a:p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en-US" sz="100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(Akari)</a:t>
            </a:r>
          </a:p>
        </p:txBody>
      </p:sp>
      <p:sp>
        <p:nvSpPr>
          <p:cNvPr id="4" name="Freeform 4"/>
          <p:cNvSpPr/>
          <p:nvPr/>
        </p:nvSpPr>
        <p:spPr>
          <a:xfrm>
            <a:off x="15304263" y="6158858"/>
            <a:ext cx="2011819" cy="3099442"/>
          </a:xfrm>
          <a:custGeom>
            <a:avLst/>
            <a:gdLst/>
            <a:ahLst/>
            <a:cxnLst/>
            <a:rect l="l" t="t" r="r" b="b"/>
            <a:pathLst>
              <a:path w="2011819" h="3099442">
                <a:moveTo>
                  <a:pt x="0" y="0"/>
                </a:moveTo>
                <a:lnTo>
                  <a:pt x="2011819" y="0"/>
                </a:lnTo>
                <a:lnTo>
                  <a:pt x="2011819" y="3099442"/>
                </a:lnTo>
                <a:lnTo>
                  <a:pt x="0" y="3099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579621"/>
            <a:ext cx="15430500" cy="264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Working of the Game</a:t>
            </a:r>
          </a:p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endParaRPr lang="en-US" sz="720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340626"/>
            <a:ext cx="3619500" cy="87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Rules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933755" y="3896360"/>
            <a:ext cx="10420490" cy="124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Grid: Black cells and white cells on a rectangle.</a:t>
            </a: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20298" y="4809171"/>
            <a:ext cx="13552902" cy="1247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Goal: Place bulbs so all white cells are lit.</a:t>
            </a:r>
          </a:p>
          <a:p>
            <a:pPr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20298" y="5356034"/>
            <a:ext cx="16296102" cy="1247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Light: Bulbs shine up/down/left/right, stopped by black cells or edges.</a:t>
            </a: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20298" y="5902897"/>
            <a:ext cx="15457902" cy="1247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Rule: Bulbs cannot shine on each other (no clear line-of-sight).</a:t>
            </a: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20298" y="6467923"/>
            <a:ext cx="17047403" cy="122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6532" lvl="1" indent="-363266" algn="l">
              <a:lnSpc>
                <a:spcPts val="4711"/>
              </a:lnSpc>
              <a:buFont typeface="Arial"/>
              <a:buChar char="•"/>
            </a:pPr>
            <a:r>
              <a:rPr lang="en-US" sz="3365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Clues: Numbers in black cells show exact count of bulbs touching that cell's sides.</a:t>
            </a:r>
          </a:p>
          <a:p>
            <a:pPr algn="l">
              <a:lnSpc>
                <a:spcPts val="4711"/>
              </a:lnSpc>
            </a:pPr>
            <a:endParaRPr lang="en-US" sz="3365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604182" y="9548661"/>
            <a:ext cx="152400" cy="2381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6983" y="3258822"/>
            <a:ext cx="5232118" cy="5313870"/>
          </a:xfrm>
          <a:custGeom>
            <a:avLst/>
            <a:gdLst/>
            <a:ahLst/>
            <a:cxnLst/>
            <a:rect l="l" t="t" r="r" b="b"/>
            <a:pathLst>
              <a:path w="5232118" h="5313870">
                <a:moveTo>
                  <a:pt x="0" y="0"/>
                </a:moveTo>
                <a:lnTo>
                  <a:pt x="5232118" y="0"/>
                </a:lnTo>
                <a:lnTo>
                  <a:pt x="5232118" y="5313869"/>
                </a:lnTo>
                <a:lnTo>
                  <a:pt x="0" y="5313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463423" y="3258822"/>
            <a:ext cx="5255331" cy="5335443"/>
          </a:xfrm>
          <a:custGeom>
            <a:avLst/>
            <a:gdLst/>
            <a:ahLst/>
            <a:cxnLst/>
            <a:rect l="l" t="t" r="r" b="b"/>
            <a:pathLst>
              <a:path w="5255331" h="5335443">
                <a:moveTo>
                  <a:pt x="0" y="0"/>
                </a:moveTo>
                <a:lnTo>
                  <a:pt x="5255331" y="0"/>
                </a:lnTo>
                <a:lnTo>
                  <a:pt x="5255331" y="5335443"/>
                </a:lnTo>
                <a:lnTo>
                  <a:pt x="0" y="5335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2391440" y="1300798"/>
            <a:ext cx="3723204" cy="91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Initial Puzzle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17045" y="1300798"/>
            <a:ext cx="3748088" cy="915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After Solving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613263" y="956059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8750" y="190500"/>
            <a:ext cx="15430500" cy="1369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Algorithm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4562" y="2019300"/>
            <a:ext cx="4336137" cy="54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02"/>
              </a:lnSpc>
            </a:pPr>
            <a:endParaRPr lang="en-US" sz="3421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1572991-64B5-3BC2-84B0-FF5768D132FC}"/>
              </a:ext>
            </a:extLst>
          </p:cNvPr>
          <p:cNvSpPr txBox="1"/>
          <p:nvPr/>
        </p:nvSpPr>
        <p:spPr>
          <a:xfrm>
            <a:off x="8686800" y="4914900"/>
            <a:ext cx="13944600" cy="1794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"/>
                <a:cs typeface="Times New Roman" panose="02020603050405020304" pitchFamily="18" charset="0"/>
                <a:sym typeface="Times New Roman MT"/>
              </a:rPr>
              <a:t>DOC</a:t>
            </a:r>
          </a:p>
          <a:p>
            <a:pPr marL="971550" lvl="1" indent="-514350">
              <a:lnSpc>
                <a:spcPts val="4759"/>
              </a:lnSpc>
              <a:buAutoNum type="arabicPeriod"/>
            </a:pPr>
            <a:endParaRPr lang="en-US" sz="3399" b="1" dirty="0">
              <a:solidFill>
                <a:srgbClr val="000000"/>
              </a:solidFill>
              <a:latin typeface="Times New Roman" panose="02020603050405020304" pitchFamily="18" charset="0"/>
              <a:ea typeface="Times New Roman MT"/>
              <a:cs typeface="Times New Roman" panose="02020603050405020304" pitchFamily="18" charset="0"/>
              <a:sym typeface="Times New Roman MT"/>
            </a:endParaRPr>
          </a:p>
          <a:p>
            <a:pPr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Times New Roman" panose="02020603050405020304" pitchFamily="18" charset="0"/>
              <a:ea typeface="Times New Roman MT"/>
              <a:cs typeface="Times New Roman" panose="02020603050405020304" pitchFamily="18" charset="0"/>
              <a:sym typeface="Times New Roman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227DC-E062-8BBC-3AA5-4C53500C2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39B4931-9D9F-B12F-99C6-DDE0284DC682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	Motivation Behind 2 Graphs 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6249D8F-36D3-B6AE-E51D-132FCD213B4F}"/>
              </a:ext>
            </a:extLst>
          </p:cNvPr>
          <p:cNvSpPr txBox="1"/>
          <p:nvPr/>
        </p:nvSpPr>
        <p:spPr>
          <a:xfrm>
            <a:off x="604562" y="2019300"/>
            <a:ext cx="4336137" cy="54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02"/>
              </a:lnSpc>
            </a:pPr>
            <a:endParaRPr lang="en-US" sz="3421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BC1DC85-712C-011F-35C4-7B522AC6932D}"/>
              </a:ext>
            </a:extLst>
          </p:cNvPr>
          <p:cNvSpPr txBox="1"/>
          <p:nvPr/>
        </p:nvSpPr>
        <p:spPr>
          <a:xfrm>
            <a:off x="17259357" y="9210675"/>
            <a:ext cx="152286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5E064-8D7D-A6A9-4DF0-3DD8B4424A6D}"/>
              </a:ext>
            </a:extLst>
          </p:cNvPr>
          <p:cNvSpPr txBox="1"/>
          <p:nvPr/>
        </p:nvSpPr>
        <p:spPr>
          <a:xfrm>
            <a:off x="1981200" y="2019836"/>
            <a:ext cx="154305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Light Up puzzle involves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fundamentally different relationships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+mj-lt"/>
              <a:buAutoNum type="arabicPeriod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Visibility relationships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(who can see whom)</a:t>
            </a:r>
          </a:p>
          <a:p>
            <a:pPr lvl="1">
              <a:buFont typeface="+mj-lt"/>
              <a:buAutoNum type="arabicPeriod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constraints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(how many bulbs are allowed)</a:t>
            </a:r>
          </a:p>
          <a:p>
            <a:pPr lvl="1">
              <a:buFont typeface="+mj-lt"/>
              <a:buAutoNum type="arabicPeriod"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 single graph would mix these concerns and make reasoning difficult.</a:t>
            </a:r>
          </a:p>
          <a:p>
            <a:pPr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we divide the problem into: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Visibility Graph (Gᵥ)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Graph (G꜀)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710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AF2C3-A571-CF7B-3D0A-66B57F86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51E04A7-D832-9B2E-DCF7-A1B03D53D7CD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	Motivation Behind 2 Graphs 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BFACCB9-4820-4BDE-338E-E78D4A5957C7}"/>
              </a:ext>
            </a:extLst>
          </p:cNvPr>
          <p:cNvSpPr txBox="1"/>
          <p:nvPr/>
        </p:nvSpPr>
        <p:spPr>
          <a:xfrm>
            <a:off x="604562" y="2019300"/>
            <a:ext cx="4336137" cy="54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02"/>
              </a:lnSpc>
            </a:pPr>
            <a:endParaRPr lang="en-US" sz="3421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B742F84-D5EE-DA9D-A28C-B6129BA81D49}"/>
              </a:ext>
            </a:extLst>
          </p:cNvPr>
          <p:cNvSpPr txBox="1"/>
          <p:nvPr/>
        </p:nvSpPr>
        <p:spPr>
          <a:xfrm>
            <a:off x="17259357" y="9210675"/>
            <a:ext cx="152286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pic>
        <p:nvPicPr>
          <p:cNvPr id="6" name="Picture 5" descr="A black and white square with a number&#10;&#10;AI-generated content may be incorrect.">
            <a:extLst>
              <a:ext uri="{FF2B5EF4-FFF2-40B4-BE49-F238E27FC236}">
                <a16:creationId xmlns:a16="http://schemas.microsoft.com/office/drawing/2014/main" id="{EC0AA73E-4C9F-47B2-4736-6F8A65501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2933700"/>
            <a:ext cx="2824238" cy="2874225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EA88CCB0-0AB7-7466-76D3-774EE31BC941}"/>
              </a:ext>
            </a:extLst>
          </p:cNvPr>
          <p:cNvSpPr txBox="1"/>
          <p:nvPr/>
        </p:nvSpPr>
        <p:spPr>
          <a:xfrm>
            <a:off x="14097000" y="1865170"/>
            <a:ext cx="685800" cy="107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1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FA116845-114D-B872-9B0E-CE3B5214E966}"/>
              </a:ext>
            </a:extLst>
          </p:cNvPr>
          <p:cNvSpPr txBox="1"/>
          <p:nvPr/>
        </p:nvSpPr>
        <p:spPr>
          <a:xfrm>
            <a:off x="15163800" y="1854109"/>
            <a:ext cx="685800" cy="107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2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50AC1EF0-BF21-2759-9CAB-296A57EAA6BA}"/>
              </a:ext>
            </a:extLst>
          </p:cNvPr>
          <p:cNvSpPr txBox="1"/>
          <p:nvPr/>
        </p:nvSpPr>
        <p:spPr>
          <a:xfrm>
            <a:off x="12946626" y="3010719"/>
            <a:ext cx="685800" cy="107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1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D06A4AC8-7AC2-F18D-7EB7-879AD1805B20}"/>
              </a:ext>
            </a:extLst>
          </p:cNvPr>
          <p:cNvSpPr txBox="1"/>
          <p:nvPr/>
        </p:nvSpPr>
        <p:spPr>
          <a:xfrm>
            <a:off x="12946626" y="4162823"/>
            <a:ext cx="685800" cy="107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AF5CC6-8CA5-7284-7524-A2611C262B03}"/>
              </a:ext>
            </a:extLst>
          </p:cNvPr>
          <p:cNvSpPr txBox="1"/>
          <p:nvPr/>
        </p:nvSpPr>
        <p:spPr>
          <a:xfrm>
            <a:off x="2286000" y="2518201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Gᵥ</a:t>
            </a:r>
            <a:endParaRPr lang="en-IN" sz="48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96F019B-F7B7-866C-5EE2-F5036E4A06A0}"/>
              </a:ext>
            </a:extLst>
          </p:cNvPr>
          <p:cNvSpPr/>
          <p:nvPr/>
        </p:nvSpPr>
        <p:spPr>
          <a:xfrm>
            <a:off x="1600200" y="4090310"/>
            <a:ext cx="838200" cy="8309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1,1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BE25AEE-50F5-32AE-53C1-4150E0758D1B}"/>
              </a:ext>
            </a:extLst>
          </p:cNvPr>
          <p:cNvSpPr/>
          <p:nvPr/>
        </p:nvSpPr>
        <p:spPr>
          <a:xfrm>
            <a:off x="1600200" y="5365694"/>
            <a:ext cx="838200" cy="8309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2,1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BFC7251-DE32-9868-F3A4-10EE30A5769D}"/>
              </a:ext>
            </a:extLst>
          </p:cNvPr>
          <p:cNvSpPr/>
          <p:nvPr/>
        </p:nvSpPr>
        <p:spPr>
          <a:xfrm>
            <a:off x="2971800" y="5387992"/>
            <a:ext cx="838200" cy="8309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2,2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4D149B8-A201-1D47-DF71-77AC0A3BC5F4}"/>
              </a:ext>
            </a:extLst>
          </p:cNvPr>
          <p:cNvCxnSpPr>
            <a:stCxn id="14" idx="4"/>
            <a:endCxn id="15" idx="0"/>
          </p:cNvCxnSpPr>
          <p:nvPr/>
        </p:nvCxnSpPr>
        <p:spPr>
          <a:xfrm>
            <a:off x="2019300" y="4921307"/>
            <a:ext cx="0" cy="44438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468B20-FB37-56DD-05DE-AD007E8AD4E6}"/>
              </a:ext>
            </a:extLst>
          </p:cNvPr>
          <p:cNvCxnSpPr>
            <a:cxnSpLocks/>
            <a:stCxn id="16" idx="2"/>
          </p:cNvCxnSpPr>
          <p:nvPr/>
        </p:nvCxnSpPr>
        <p:spPr>
          <a:xfrm flipH="1" flipV="1">
            <a:off x="2438400" y="5781192"/>
            <a:ext cx="533400" cy="22299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8E91D12-10BD-73D7-16EA-2723916F5E99}"/>
              </a:ext>
            </a:extLst>
          </p:cNvPr>
          <p:cNvSpPr txBox="1"/>
          <p:nvPr/>
        </p:nvSpPr>
        <p:spPr>
          <a:xfrm>
            <a:off x="7396238" y="2439898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en-US" sz="4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endParaRPr lang="en-IN" baseline="-250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91A53E3-F1CD-9F73-56F1-F4EAFA9CBF84}"/>
              </a:ext>
            </a:extLst>
          </p:cNvPr>
          <p:cNvSpPr/>
          <p:nvPr/>
        </p:nvSpPr>
        <p:spPr>
          <a:xfrm>
            <a:off x="9144000" y="3769796"/>
            <a:ext cx="1143000" cy="107959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2,2 (2)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ACB2F9B-59A0-9601-0559-4D664C3873A7}"/>
              </a:ext>
            </a:extLst>
          </p:cNvPr>
          <p:cNvSpPr/>
          <p:nvPr/>
        </p:nvSpPr>
        <p:spPr>
          <a:xfrm>
            <a:off x="7404919" y="3769796"/>
            <a:ext cx="838200" cy="8309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2,2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92A2642-4E40-523E-B478-F2E83785E538}"/>
              </a:ext>
            </a:extLst>
          </p:cNvPr>
          <p:cNvSpPr/>
          <p:nvPr/>
        </p:nvSpPr>
        <p:spPr>
          <a:xfrm>
            <a:off x="9296400" y="5600700"/>
            <a:ext cx="838200" cy="8309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2,2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42798D5-BF89-164E-80C1-2A8A9E844D12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9715500" y="4849387"/>
            <a:ext cx="0" cy="7513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16C9E8-CF7F-AEEA-25F2-48ADA0D24FFF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8243119" y="4185294"/>
            <a:ext cx="900881" cy="12429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327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5042" y="358140"/>
            <a:ext cx="15430500" cy="1217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80"/>
              </a:lnSpc>
              <a:spcBef>
                <a:spcPct val="0"/>
              </a:spcBef>
            </a:pPr>
            <a:r>
              <a:rPr lang="en-US" sz="72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Graph Construction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2945" y="9210675"/>
            <a:ext cx="165110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EA11C-D5B2-1A14-E3C0-FD86D14C1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E286417-E92B-7D8C-F88F-080649666B24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	Connected Components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D80C85B-5156-5636-7F6D-AB49C353A9EC}"/>
              </a:ext>
            </a:extLst>
          </p:cNvPr>
          <p:cNvSpPr txBox="1"/>
          <p:nvPr/>
        </p:nvSpPr>
        <p:spPr>
          <a:xfrm>
            <a:off x="604562" y="2019300"/>
            <a:ext cx="4336137" cy="54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02"/>
              </a:lnSpc>
            </a:pPr>
            <a:endParaRPr lang="en-US" sz="3421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7DB0CBB-EFB2-36C3-275E-B9F81533D4A5}"/>
              </a:ext>
            </a:extLst>
          </p:cNvPr>
          <p:cNvSpPr txBox="1"/>
          <p:nvPr/>
        </p:nvSpPr>
        <p:spPr>
          <a:xfrm>
            <a:off x="17272181" y="9210675"/>
            <a:ext cx="126638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pic>
        <p:nvPicPr>
          <p:cNvPr id="3074" name="Picture 2" descr="Example graph with two connected components | Download Scientific Diagram">
            <a:extLst>
              <a:ext uri="{FF2B5EF4-FFF2-40B4-BE49-F238E27FC236}">
                <a16:creationId xmlns:a16="http://schemas.microsoft.com/office/drawing/2014/main" id="{27B046BF-8DFB-97A7-94B9-A79685C0D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5986" y="5676900"/>
            <a:ext cx="7176028" cy="2630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306554-E3EC-6EFE-65E6-547B7227522E}"/>
              </a:ext>
            </a:extLst>
          </p:cNvPr>
          <p:cNvSpPr txBox="1"/>
          <p:nvPr/>
        </p:nvSpPr>
        <p:spPr>
          <a:xfrm>
            <a:off x="1310640" y="2886173"/>
            <a:ext cx="155829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components are maximal, separate groups of nodes (vertices) in a graph where every node within a group is reachable from every other node in that same group, but no node connects to nodes outside its group.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106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1D107-7361-5E13-2851-07D9A3E8F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1BC09D9-8A68-DF7E-F8BC-9D4A2B935251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	Connected Components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A342C29-FA20-D922-7B3C-33E025A97D2B}"/>
              </a:ext>
            </a:extLst>
          </p:cNvPr>
          <p:cNvSpPr txBox="1"/>
          <p:nvPr/>
        </p:nvSpPr>
        <p:spPr>
          <a:xfrm>
            <a:off x="604562" y="2019300"/>
            <a:ext cx="4336137" cy="54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02"/>
              </a:lnSpc>
            </a:pPr>
            <a:endParaRPr lang="en-US" sz="3421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1DABAB2-8E0D-1994-103B-B51A032AAFA3}"/>
              </a:ext>
            </a:extLst>
          </p:cNvPr>
          <p:cNvSpPr txBox="1"/>
          <p:nvPr/>
        </p:nvSpPr>
        <p:spPr>
          <a:xfrm>
            <a:off x="17257754" y="9210675"/>
            <a:ext cx="155492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77C05-42CB-E08B-2314-150D43BA09B8}"/>
              </a:ext>
            </a:extLst>
          </p:cNvPr>
          <p:cNvSpPr txBox="1"/>
          <p:nvPr/>
        </p:nvSpPr>
        <p:spPr>
          <a:xfrm>
            <a:off x="859008" y="1957684"/>
            <a:ext cx="10668000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apply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Visibility Graph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connected components.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connected component represents: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visibility region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set of cells where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two bulbs can coexist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region that can be fully lit by strategically placing bulbs.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breaks down our problem of solving the entire grid into smaller sub parts. Any Bulb placement in one component does NOT affect the nodes of another component.</a:t>
            </a:r>
          </a:p>
          <a:p>
            <a:pPr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Akari - nikoli">
            <a:extLst>
              <a:ext uri="{FF2B5EF4-FFF2-40B4-BE49-F238E27FC236}">
                <a16:creationId xmlns:a16="http://schemas.microsoft.com/office/drawing/2014/main" id="{B7FE22C4-4EED-24A7-0612-A7F2D4FF1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9114" y="2019300"/>
            <a:ext cx="4336136" cy="433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FF86F9-1E5A-2AE7-3A18-CA84DA34F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6400" y="4457700"/>
            <a:ext cx="652345" cy="685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BD4870-0201-B789-C59F-A2BADEAFE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3510" y="5067300"/>
            <a:ext cx="652345" cy="685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F31EFF-E5A5-07F0-4AFD-84C04B842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4055" y="3291484"/>
            <a:ext cx="65234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732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D06C1-10FF-5B27-221B-FF263AABB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C83CA78-B856-B7CB-5D9F-D43B9B6CF285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	Connected Components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34047F0-8A9D-E20E-CB22-A9BB4EA9539F}"/>
              </a:ext>
            </a:extLst>
          </p:cNvPr>
          <p:cNvSpPr txBox="1"/>
          <p:nvPr/>
        </p:nvSpPr>
        <p:spPr>
          <a:xfrm>
            <a:off x="604562" y="2019300"/>
            <a:ext cx="4336137" cy="54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02"/>
              </a:lnSpc>
            </a:pPr>
            <a:endParaRPr lang="en-US" sz="3421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18AD0E3-FE71-81F9-1CC1-8649F276A763}"/>
              </a:ext>
            </a:extLst>
          </p:cNvPr>
          <p:cNvSpPr txBox="1"/>
          <p:nvPr/>
        </p:nvSpPr>
        <p:spPr>
          <a:xfrm>
            <a:off x="17252945" y="9210675"/>
            <a:ext cx="165110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1120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850B3-53C2-29F0-E145-19DA8EBA7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23715DA-1DF5-9D6F-B70A-76BD57200582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	Forced Constraint Propagation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44F50E9-4F71-5F99-68AE-77C449B95550}"/>
              </a:ext>
            </a:extLst>
          </p:cNvPr>
          <p:cNvSpPr txBox="1"/>
          <p:nvPr/>
        </p:nvSpPr>
        <p:spPr>
          <a:xfrm>
            <a:off x="604562" y="2019300"/>
            <a:ext cx="4336137" cy="54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02"/>
              </a:lnSpc>
            </a:pPr>
            <a:endParaRPr lang="en-US" sz="3421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74CBCA7-4F3A-000E-EFA2-13A68531D7D2}"/>
              </a:ext>
            </a:extLst>
          </p:cNvPr>
          <p:cNvSpPr txBox="1"/>
          <p:nvPr/>
        </p:nvSpPr>
        <p:spPr>
          <a:xfrm>
            <a:off x="17177604" y="9210675"/>
            <a:ext cx="315791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CB2FE-3964-323F-58B7-EB127D24B586}"/>
              </a:ext>
            </a:extLst>
          </p:cNvPr>
          <p:cNvSpPr txBox="1"/>
          <p:nvPr/>
        </p:nvSpPr>
        <p:spPr>
          <a:xfrm>
            <a:off x="858916" y="2292964"/>
            <a:ext cx="10668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initialize a queue with all numbered black cells.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numbered cell x :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600" dirty="0">
                <a:latin typeface="Aptos Display" panose="020B0004020202020204" pitchFamily="34" charset="0"/>
                <a:cs typeface="Times New Roman" panose="02020603050405020304" pitchFamily="18" charset="0"/>
              </a:rPr>
              <a:t>remaining(x) = free(x), 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remaining adjacent cells must contain bulbs.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places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mandatory bulbs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are logically unavoidable, reducing the problem size early and safely.</a:t>
            </a:r>
          </a:p>
          <a:p>
            <a:pPr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Akari - nikoli">
            <a:extLst>
              <a:ext uri="{FF2B5EF4-FFF2-40B4-BE49-F238E27FC236}">
                <a16:creationId xmlns:a16="http://schemas.microsoft.com/office/drawing/2014/main" id="{89C256CA-4273-C90D-F963-9A5447BA9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9114" y="2019300"/>
            <a:ext cx="4336136" cy="433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CD55C7-85B5-D978-B24D-8784EB656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6400" y="4457700"/>
            <a:ext cx="652345" cy="685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88E212-20E6-F8BF-8D4A-74E7EAA04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3510" y="5067300"/>
            <a:ext cx="652345" cy="685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A00E3E-7284-A0DE-E2CD-1F33A87DC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4055" y="3291484"/>
            <a:ext cx="65234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79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F224D-E548-973B-1B6A-CB8B58119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ACDDCCD-06EB-A662-FB7A-7AAE64783D6D}"/>
              </a:ext>
            </a:extLst>
          </p:cNvPr>
          <p:cNvSpPr txBox="1"/>
          <p:nvPr/>
        </p:nvSpPr>
        <p:spPr>
          <a:xfrm>
            <a:off x="10721437" y="3929032"/>
            <a:ext cx="7340999" cy="2428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	Forced Constraint   	Propagation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62B278E-3623-2200-88B1-F0276C3E492A}"/>
              </a:ext>
            </a:extLst>
          </p:cNvPr>
          <p:cNvSpPr txBox="1"/>
          <p:nvPr/>
        </p:nvSpPr>
        <p:spPr>
          <a:xfrm>
            <a:off x="604562" y="2019300"/>
            <a:ext cx="4336137" cy="54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02"/>
              </a:lnSpc>
            </a:pPr>
            <a:endParaRPr lang="en-US" sz="3421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D15CAE2-CE51-89A6-8BA9-C87DDDACDB25}"/>
              </a:ext>
            </a:extLst>
          </p:cNvPr>
          <p:cNvSpPr txBox="1"/>
          <p:nvPr/>
        </p:nvSpPr>
        <p:spPr>
          <a:xfrm>
            <a:off x="17199245" y="9210675"/>
            <a:ext cx="272510" cy="69461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BEB310-E38F-21D8-2CAA-61A8D2F16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64" y="114300"/>
            <a:ext cx="10801939" cy="979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212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075A-F052-4B7F-0CBF-981695C61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2402286-8C54-3C91-B72D-A9C60DEC6919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Sorting Visibility Components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E32D1C5-6453-1266-45FB-A2FFBBD506C3}"/>
              </a:ext>
            </a:extLst>
          </p:cNvPr>
          <p:cNvSpPr txBox="1"/>
          <p:nvPr/>
        </p:nvSpPr>
        <p:spPr>
          <a:xfrm>
            <a:off x="604562" y="2019300"/>
            <a:ext cx="4336137" cy="54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02"/>
              </a:lnSpc>
            </a:pPr>
            <a:endParaRPr lang="en-US" sz="3421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D171165-8D00-8A25-2639-A91C7622482A}"/>
              </a:ext>
            </a:extLst>
          </p:cNvPr>
          <p:cNvSpPr txBox="1"/>
          <p:nvPr/>
        </p:nvSpPr>
        <p:spPr>
          <a:xfrm>
            <a:off x="17192833" y="9210675"/>
            <a:ext cx="285335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424524-4FF3-43A4-D708-D3FA153C59BF}"/>
              </a:ext>
            </a:extLst>
          </p:cNvPr>
          <p:cNvSpPr txBox="1"/>
          <p:nvPr/>
        </p:nvSpPr>
        <p:spPr>
          <a:xfrm>
            <a:off x="589322" y="3009900"/>
            <a:ext cx="1297771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forced placements, some cells may still remain unlit.</a:t>
            </a:r>
          </a:p>
          <a:p>
            <a:pPr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compute for each component </a:t>
            </a:r>
            <a:r>
              <a:rPr lang="en-US" sz="4000" dirty="0">
                <a:latin typeface="Courier New" panose="02070309020205020404" pitchFamily="49" charset="0"/>
              </a:rPr>
              <a:t>C</a:t>
            </a:r>
            <a:r>
              <a:rPr lang="en-US" sz="4000" dirty="0"/>
              <a:t>:</a:t>
            </a:r>
          </a:p>
          <a:p>
            <a:pPr rtl="0">
              <a:buNone/>
            </a:pPr>
            <a:r>
              <a:rPr lang="en-US" sz="4000" dirty="0">
                <a:highlight>
                  <a:srgbClr val="FFFF00"/>
                </a:highlight>
                <a:latin typeface="Courier New" panose="02070309020205020404" pitchFamily="49" charset="0"/>
              </a:rPr>
              <a:t>score(C) = |C| − number of lit nodes in C</a:t>
            </a:r>
          </a:p>
          <a:p>
            <a:pPr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are sorted in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descending order of score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that: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largest unlit regions are handled first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bulb placement maximizes global lighting impact</a:t>
            </a:r>
          </a:p>
          <a:p>
            <a:pPr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is done using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Sort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B7BDFC0-5947-6E71-95B5-92BEC354C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6664" y="2292964"/>
            <a:ext cx="3206774" cy="501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49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87523"/>
            <a:ext cx="15430500" cy="1208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10080"/>
              </a:lnSpc>
              <a:spcBef>
                <a:spcPct val="0"/>
              </a:spcBef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BFS</a:t>
            </a:r>
            <a:endParaRPr lang="en-US" sz="7200" b="1" dirty="0">
              <a:solidFill>
                <a:srgbClr val="000000"/>
              </a:solidFill>
              <a:latin typeface="Times New Roman" panose="02020603050405020304" pitchFamily="18" charset="0"/>
              <a:ea typeface="Open Sauce"/>
              <a:cs typeface="Times New Roman" panose="02020603050405020304" pitchFamily="18" charset="0"/>
              <a:sym typeface="Open Sauce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35042" y="2374489"/>
            <a:ext cx="12699958" cy="6729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a bulb is placed: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BFS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run on Gᵥ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is performed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twice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using only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(H) edges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using only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(V) edges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ensures: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visible cells are marked as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Conflicting cells are marked as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blocked.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modification prevents incorrect visibility assumptions across turns.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196840" y="9210675"/>
            <a:ext cx="277320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EA2185-4D9C-4DE4-EFBF-F6F872095F47}"/>
              </a:ext>
            </a:extLst>
          </p:cNvPr>
          <p:cNvSpPr/>
          <p:nvPr/>
        </p:nvSpPr>
        <p:spPr>
          <a:xfrm>
            <a:off x="12877800" y="2095500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1,1</a:t>
            </a:r>
            <a:endParaRPr lang="en-IN" sz="28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5865FB3-3B35-896D-6474-BE4C8E431B06}"/>
              </a:ext>
            </a:extLst>
          </p:cNvPr>
          <p:cNvSpPr/>
          <p:nvPr/>
        </p:nvSpPr>
        <p:spPr>
          <a:xfrm>
            <a:off x="12877800" y="4148886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2,1</a:t>
            </a:r>
            <a:endParaRPr lang="en-IN" sz="28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5861263-08B1-18CD-879D-FB67D8DC194E}"/>
              </a:ext>
            </a:extLst>
          </p:cNvPr>
          <p:cNvSpPr/>
          <p:nvPr/>
        </p:nvSpPr>
        <p:spPr>
          <a:xfrm>
            <a:off x="13106400" y="6169351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3,1</a:t>
            </a:r>
            <a:endParaRPr lang="en-IN" sz="28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CDF3BBF-580F-B308-CEE0-CCAE054AB905}"/>
              </a:ext>
            </a:extLst>
          </p:cNvPr>
          <p:cNvSpPr/>
          <p:nvPr/>
        </p:nvSpPr>
        <p:spPr>
          <a:xfrm>
            <a:off x="15151142" y="4084975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2,2</a:t>
            </a:r>
            <a:endParaRPr lang="en-IN" sz="28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35E7F2-1D76-4B07-1B18-B39A7A9FB2DB}"/>
              </a:ext>
            </a:extLst>
          </p:cNvPr>
          <p:cNvCxnSpPr>
            <a:stCxn id="5" idx="4"/>
            <a:endCxn id="10" idx="0"/>
          </p:cNvCxnSpPr>
          <p:nvPr/>
        </p:nvCxnSpPr>
        <p:spPr>
          <a:xfrm>
            <a:off x="13335000" y="3009900"/>
            <a:ext cx="0" cy="1138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C79775-C3A4-BB51-727F-6D56A552CE01}"/>
              </a:ext>
            </a:extLst>
          </p:cNvPr>
          <p:cNvCxnSpPr/>
          <p:nvPr/>
        </p:nvCxnSpPr>
        <p:spPr>
          <a:xfrm>
            <a:off x="13335000" y="5063286"/>
            <a:ext cx="0" cy="1138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098697-F52B-75C8-CD6E-191C4258E0D9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 flipV="1">
            <a:off x="13792200" y="4542175"/>
            <a:ext cx="1358942" cy="639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2">
            <a:extLst>
              <a:ext uri="{FF2B5EF4-FFF2-40B4-BE49-F238E27FC236}">
                <a16:creationId xmlns:a16="http://schemas.microsoft.com/office/drawing/2014/main" id="{1A52F075-2C3B-DC20-C227-8B9D04710D08}"/>
              </a:ext>
            </a:extLst>
          </p:cNvPr>
          <p:cNvSpPr txBox="1"/>
          <p:nvPr/>
        </p:nvSpPr>
        <p:spPr>
          <a:xfrm>
            <a:off x="14128771" y="3462584"/>
            <a:ext cx="685800" cy="107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H</a:t>
            </a:r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11671517-FE3E-928D-BF3F-9516FB0B26CB}"/>
              </a:ext>
            </a:extLst>
          </p:cNvPr>
          <p:cNvSpPr txBox="1"/>
          <p:nvPr/>
        </p:nvSpPr>
        <p:spPr>
          <a:xfrm>
            <a:off x="13350240" y="4790191"/>
            <a:ext cx="685800" cy="107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V</a:t>
            </a: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8A6C29DF-5461-34B9-73EA-9C3BA0D60034}"/>
              </a:ext>
            </a:extLst>
          </p:cNvPr>
          <p:cNvSpPr txBox="1"/>
          <p:nvPr/>
        </p:nvSpPr>
        <p:spPr>
          <a:xfrm>
            <a:off x="13274686" y="2783294"/>
            <a:ext cx="685800" cy="107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67152-1698-BFF4-9D5E-CA5DF7545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26A2876-90AE-165A-BCA1-508482145C44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Bulb Selection Within a Component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650C54C-5974-F5A4-356C-19ADCEC26876}"/>
              </a:ext>
            </a:extLst>
          </p:cNvPr>
          <p:cNvSpPr txBox="1"/>
          <p:nvPr/>
        </p:nvSpPr>
        <p:spPr>
          <a:xfrm>
            <a:off x="604562" y="2019300"/>
            <a:ext cx="4336137" cy="54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02"/>
              </a:lnSpc>
            </a:pPr>
            <a:endParaRPr lang="en-US" sz="3421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C30B0B1-A610-4AD5-A0DC-E21803391D4A}"/>
              </a:ext>
            </a:extLst>
          </p:cNvPr>
          <p:cNvSpPr txBox="1"/>
          <p:nvPr/>
        </p:nvSpPr>
        <p:spPr>
          <a:xfrm>
            <a:off x="17189627" y="9210675"/>
            <a:ext cx="291747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8B9BA-E054-E4B8-689E-F43453BD7E02}"/>
              </a:ext>
            </a:extLst>
          </p:cNvPr>
          <p:cNvSpPr txBox="1"/>
          <p:nvPr/>
        </p:nvSpPr>
        <p:spPr>
          <a:xfrm>
            <a:off x="511186" y="2684234"/>
            <a:ext cx="13106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each component:</a:t>
            </a:r>
          </a:p>
          <a:p>
            <a:pPr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score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outgoing visibility edges</a:t>
            </a:r>
          </a:p>
          <a:p>
            <a:pPr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nodes using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 node u such that: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is not blocked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in G꜀ are not violated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newly lit cells is maximized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9A36CEF-D704-4638-EB43-6DA7EF7E98F6}"/>
              </a:ext>
            </a:extLst>
          </p:cNvPr>
          <p:cNvSpPr/>
          <p:nvPr/>
        </p:nvSpPr>
        <p:spPr>
          <a:xfrm>
            <a:off x="12877800" y="2095500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1,1</a:t>
            </a:r>
            <a:endParaRPr lang="en-IN" sz="28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63CC42-E154-3AB3-291D-2E64487A10D5}"/>
              </a:ext>
            </a:extLst>
          </p:cNvPr>
          <p:cNvSpPr/>
          <p:nvPr/>
        </p:nvSpPr>
        <p:spPr>
          <a:xfrm>
            <a:off x="12877800" y="4148886"/>
            <a:ext cx="914400" cy="914400"/>
          </a:xfrm>
          <a:prstGeom prst="ellipse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2,1</a:t>
            </a:r>
            <a:endParaRPr lang="en-IN" sz="28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93CB49E-4894-93B2-3E31-FE29E9DDA118}"/>
              </a:ext>
            </a:extLst>
          </p:cNvPr>
          <p:cNvSpPr/>
          <p:nvPr/>
        </p:nvSpPr>
        <p:spPr>
          <a:xfrm>
            <a:off x="13106400" y="6169351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3,1</a:t>
            </a:r>
            <a:endParaRPr lang="en-IN" sz="28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CCB1429-7833-CE1E-1AF1-F1BB9B321A3F}"/>
              </a:ext>
            </a:extLst>
          </p:cNvPr>
          <p:cNvSpPr/>
          <p:nvPr/>
        </p:nvSpPr>
        <p:spPr>
          <a:xfrm>
            <a:off x="15151142" y="4084975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2,2</a:t>
            </a:r>
            <a:endParaRPr lang="en-IN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FC0FDB-54C3-62E7-A708-9E90B8F0B7CB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13335000" y="3009900"/>
            <a:ext cx="0" cy="1138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AD3880-D38E-14FD-4EFE-09CBA0ECE479}"/>
              </a:ext>
            </a:extLst>
          </p:cNvPr>
          <p:cNvCxnSpPr/>
          <p:nvPr/>
        </p:nvCxnSpPr>
        <p:spPr>
          <a:xfrm>
            <a:off x="13335000" y="5063286"/>
            <a:ext cx="0" cy="1138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23A73D-2961-F72B-E928-25FB6B9DE08A}"/>
              </a:ext>
            </a:extLst>
          </p:cNvPr>
          <p:cNvCxnSpPr>
            <a:stCxn id="9" idx="6"/>
            <a:endCxn id="11" idx="2"/>
          </p:cNvCxnSpPr>
          <p:nvPr/>
        </p:nvCxnSpPr>
        <p:spPr>
          <a:xfrm flipV="1">
            <a:off x="13792200" y="4542175"/>
            <a:ext cx="1358942" cy="639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2">
            <a:extLst>
              <a:ext uri="{FF2B5EF4-FFF2-40B4-BE49-F238E27FC236}">
                <a16:creationId xmlns:a16="http://schemas.microsoft.com/office/drawing/2014/main" id="{CFC9BEAE-27FA-E523-A683-479C5C62BAA1}"/>
              </a:ext>
            </a:extLst>
          </p:cNvPr>
          <p:cNvSpPr txBox="1"/>
          <p:nvPr/>
        </p:nvSpPr>
        <p:spPr>
          <a:xfrm>
            <a:off x="14128771" y="3462584"/>
            <a:ext cx="685800" cy="107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H</a:t>
            </a: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D5363481-62E2-75C3-396B-B761B0E7B979}"/>
              </a:ext>
            </a:extLst>
          </p:cNvPr>
          <p:cNvSpPr txBox="1"/>
          <p:nvPr/>
        </p:nvSpPr>
        <p:spPr>
          <a:xfrm>
            <a:off x="13350240" y="4790191"/>
            <a:ext cx="685800" cy="107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V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70A30571-EF69-CC78-FFDD-AB6B1F0E9E08}"/>
              </a:ext>
            </a:extLst>
          </p:cNvPr>
          <p:cNvSpPr txBox="1"/>
          <p:nvPr/>
        </p:nvSpPr>
        <p:spPr>
          <a:xfrm>
            <a:off x="13274686" y="2783294"/>
            <a:ext cx="685800" cy="1079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V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1AA8EC-E96E-EF33-8134-E77E733B2985}"/>
              </a:ext>
            </a:extLst>
          </p:cNvPr>
          <p:cNvSpPr txBox="1"/>
          <p:nvPr/>
        </p:nvSpPr>
        <p:spPr>
          <a:xfrm>
            <a:off x="2209800" y="7133730"/>
            <a:ext cx="9677400" cy="247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place bulb at u</a:t>
            </a:r>
            <a:endParaRPr lang="en-IN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Modified BFS on G</a:t>
            </a:r>
            <a:r>
              <a:rPr lang="en-IN" sz="2400" kern="0" baseline="-250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from u to:</a:t>
            </a:r>
            <a:endParaRPr lang="en-IN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mark nodes as lit</a:t>
            </a:r>
            <a:endParaRPr lang="en-IN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mark conflicting nodes as blocked</a:t>
            </a:r>
            <a:endParaRPr lang="en-IN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update </a:t>
            </a:r>
            <a:r>
              <a:rPr lang="en-IN" sz="2400" i="1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remaining</a:t>
            </a:r>
            <a:r>
              <a:rPr lang="en-IN" sz="24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free values</a:t>
            </a:r>
            <a:endParaRPr lang="en-IN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940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3E5C2-6FD2-5158-AF09-539349496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874C96A-14CC-47A4-42EB-51796871B86A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Bulb Selection Within a Component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C61F6B9-5A10-6386-1DE6-E4D63A529ABA}"/>
              </a:ext>
            </a:extLst>
          </p:cNvPr>
          <p:cNvSpPr txBox="1"/>
          <p:nvPr/>
        </p:nvSpPr>
        <p:spPr>
          <a:xfrm>
            <a:off x="17191229" y="9210675"/>
            <a:ext cx="288542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5667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59125-7BBF-4398-CD39-322EF302A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EAEE373-6B29-A5EE-BD4F-DBC7906F3D11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Termination Condition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580AD98-ED1A-30CE-9A20-94C439797D83}"/>
              </a:ext>
            </a:extLst>
          </p:cNvPr>
          <p:cNvSpPr txBox="1"/>
          <p:nvPr/>
        </p:nvSpPr>
        <p:spPr>
          <a:xfrm>
            <a:off x="17184817" y="9210675"/>
            <a:ext cx="301366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B42E46-6B10-54EC-79A0-B27AA1052156}"/>
              </a:ext>
            </a:extLst>
          </p:cNvPr>
          <p:cNvSpPr txBox="1"/>
          <p:nvPr/>
        </p:nvSpPr>
        <p:spPr>
          <a:xfrm>
            <a:off x="2343150" y="3390900"/>
            <a:ext cx="13335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terminates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empty cells are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numbered black cells have</a:t>
            </a:r>
            <a:r>
              <a:rPr lang="en-US" sz="4000" dirty="0"/>
              <a:t> </a:t>
            </a:r>
            <a:r>
              <a:rPr lang="en-US" sz="4000" dirty="0">
                <a:latin typeface="Courier New" panose="02070309020205020404" pitchFamily="49" charset="0"/>
              </a:rPr>
              <a:t>remaining(x) = 0</a:t>
            </a:r>
            <a:endParaRPr lang="en-US" sz="4000" dirty="0"/>
          </a:p>
          <a:p>
            <a:pPr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point, the algorithm returns the set of bulb placements as 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solution</a:t>
            </a:r>
            <a:r>
              <a:rPr lang="en-US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4533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F91B1-9889-7624-D481-7BCEDEC64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4E3FBE9-D19E-C19C-2F22-FAFA7E3D4F4D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Counter Example – Where this algorithm Fails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25479E4-27CA-F5B3-09F2-3BBAFBEB025C}"/>
              </a:ext>
            </a:extLst>
          </p:cNvPr>
          <p:cNvSpPr txBox="1"/>
          <p:nvPr/>
        </p:nvSpPr>
        <p:spPr>
          <a:xfrm>
            <a:off x="17204054" y="9210675"/>
            <a:ext cx="262893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F2B61E-C5C0-41BD-3578-6A8EEDCA6DF0}"/>
              </a:ext>
            </a:extLst>
          </p:cNvPr>
          <p:cNvSpPr txBox="1"/>
          <p:nvPr/>
        </p:nvSpPr>
        <p:spPr>
          <a:xfrm>
            <a:off x="838200" y="2019300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— Graph construction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All empty cells belong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visibility component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3247F7-0E5C-AE0C-7130-232B5480CC9A}"/>
              </a:ext>
            </a:extLst>
          </p:cNvPr>
          <p:cNvSpPr txBox="1"/>
          <p:nvPr/>
        </p:nvSpPr>
        <p:spPr>
          <a:xfrm>
            <a:off x="838200" y="3111499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— Sort visibility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component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has many unlit cells → highest priority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582B35-507C-2045-B56E-23538249C666}"/>
              </a:ext>
            </a:extLst>
          </p:cNvPr>
          <p:cNvSpPr txBox="1"/>
          <p:nvPr/>
        </p:nvSpPr>
        <p:spPr>
          <a:xfrm>
            <a:off x="853440" y="4838700"/>
            <a:ext cx="9144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— Bulb placement inside component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score(u) = number of visible cells.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according to the scores.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 the cell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maximizes visibility.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cell is: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(3,3)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(Score = 5). So we place a bulb there.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cell that maximizes visibility is (2,2).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place bulbs at (1,1) and (4,4) to light them up 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(Least scores).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placing a bulb at 2,2 ,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STILL HAVE NODES (4,1) and (1,4) unlit, and bulbs cannot be placed there due to the constraint.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PUZZLE REMAINS UNSOLVED.</a:t>
            </a:r>
          </a:p>
        </p:txBody>
      </p:sp>
      <p:pic>
        <p:nvPicPr>
          <p:cNvPr id="17" name="Picture 16" descr="A screenshot of a crossword puzzle&#10;&#10;AI-generated content may be incorrect.">
            <a:extLst>
              <a:ext uri="{FF2B5EF4-FFF2-40B4-BE49-F238E27FC236}">
                <a16:creationId xmlns:a16="http://schemas.microsoft.com/office/drawing/2014/main" id="{72E86816-C78A-8B65-00D9-AE058B78D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091" y="2420120"/>
            <a:ext cx="3657600" cy="3643533"/>
          </a:xfrm>
          <a:prstGeom prst="rect">
            <a:avLst/>
          </a:prstGeom>
        </p:spPr>
      </p:pic>
      <p:pic>
        <p:nvPicPr>
          <p:cNvPr id="19" name="Picture 18" descr="A yellow and black squares with a white circle in the middle&#10;&#10;AI-generated content may be incorrect.">
            <a:extLst>
              <a:ext uri="{FF2B5EF4-FFF2-40B4-BE49-F238E27FC236}">
                <a16:creationId xmlns:a16="http://schemas.microsoft.com/office/drawing/2014/main" id="{9A0350F1-3278-E6A3-244F-7605ED202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0" y="2420120"/>
            <a:ext cx="3671346" cy="3643533"/>
          </a:xfrm>
          <a:prstGeom prst="rect">
            <a:avLst/>
          </a:prstGeom>
        </p:spPr>
      </p:pic>
      <p:pic>
        <p:nvPicPr>
          <p:cNvPr id="21" name="Picture 20" descr="A yellow and black squares with white circles&#10;&#10;AI-generated content may be incorrect.">
            <a:extLst>
              <a:ext uri="{FF2B5EF4-FFF2-40B4-BE49-F238E27FC236}">
                <a16:creationId xmlns:a16="http://schemas.microsoft.com/office/drawing/2014/main" id="{8FBA1867-F2FA-604F-EC9A-42DDF3074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9091" y="6300231"/>
            <a:ext cx="3657600" cy="3657600"/>
          </a:xfrm>
          <a:prstGeom prst="rect">
            <a:avLst/>
          </a:prstGeom>
        </p:spPr>
      </p:pic>
      <p:pic>
        <p:nvPicPr>
          <p:cNvPr id="23" name="Picture 22" descr="A yellow and black squares with white circles&#10;&#10;AI-generated content may be incorrect.">
            <a:extLst>
              <a:ext uri="{FF2B5EF4-FFF2-40B4-BE49-F238E27FC236}">
                <a16:creationId xmlns:a16="http://schemas.microsoft.com/office/drawing/2014/main" id="{9DF5671D-6AC1-BB1F-5049-0741091FED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7448" y="6307851"/>
            <a:ext cx="3657600" cy="363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74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C36A0-646F-C5D9-BC1B-B8B24743B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FFE29D8-03BB-3AAA-8ABA-CBB5E180EA43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But a valid solution does exist.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D9943DB-8920-3B26-6A6C-1663086BF9B9}"/>
              </a:ext>
            </a:extLst>
          </p:cNvPr>
          <p:cNvSpPr txBox="1"/>
          <p:nvPr/>
        </p:nvSpPr>
        <p:spPr>
          <a:xfrm>
            <a:off x="17189627" y="9210675"/>
            <a:ext cx="291747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</a:p>
        </p:txBody>
      </p:sp>
      <p:pic>
        <p:nvPicPr>
          <p:cNvPr id="5" name="Picture 4" descr="A yellow and black checkered board with white circles and black squares&#10;&#10;AI-generated content may be incorrect.">
            <a:extLst>
              <a:ext uri="{FF2B5EF4-FFF2-40B4-BE49-F238E27FC236}">
                <a16:creationId xmlns:a16="http://schemas.microsoft.com/office/drawing/2014/main" id="{E5452D74-F258-3105-99B0-51A656430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835" y="2680944"/>
            <a:ext cx="4944165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71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31033-7FF4-8690-21BD-B0B64F0A5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C34081-73F3-5819-CE49-20788F041074}"/>
              </a:ext>
            </a:extLst>
          </p:cNvPr>
          <p:cNvSpPr txBox="1"/>
          <p:nvPr/>
        </p:nvSpPr>
        <p:spPr>
          <a:xfrm>
            <a:off x="1600200" y="2933700"/>
            <a:ext cx="15468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rule in Step 4.3 ensures maximum visibility.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local optimization ignores whether remaining unlit cells retain any feasible lighting source.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high-visibility placements block or eliminate low-visibility but essential cells.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algorithm performs no lookahead or backtracking, it cannot recover.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the puzzle becomes unsatisfiable despite a valid solution existing.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45977D6-1A2E-D503-52F0-8B7BE799392D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Why did our algorithm fail to find a solution?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AF95E87B-9D58-AE7C-E896-65737581A504}"/>
              </a:ext>
            </a:extLst>
          </p:cNvPr>
          <p:cNvSpPr txBox="1"/>
          <p:nvPr/>
        </p:nvSpPr>
        <p:spPr>
          <a:xfrm>
            <a:off x="17184818" y="9210675"/>
            <a:ext cx="301366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52713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80151-C0A8-5176-7EAF-A2B7E8C6C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230DD9-51FA-4ABC-09E7-0C06DF370703}"/>
              </a:ext>
            </a:extLst>
          </p:cNvPr>
          <p:cNvSpPr/>
          <p:nvPr/>
        </p:nvSpPr>
        <p:spPr>
          <a:xfrm>
            <a:off x="13868400" y="5829300"/>
            <a:ext cx="2011819" cy="3099442"/>
          </a:xfrm>
          <a:custGeom>
            <a:avLst/>
            <a:gdLst/>
            <a:ahLst/>
            <a:cxnLst/>
            <a:rect l="l" t="t" r="r" b="b"/>
            <a:pathLst>
              <a:path w="2011819" h="3099442">
                <a:moveTo>
                  <a:pt x="0" y="0"/>
                </a:moveTo>
                <a:lnTo>
                  <a:pt x="2011819" y="0"/>
                </a:lnTo>
                <a:lnTo>
                  <a:pt x="2011819" y="3099442"/>
                </a:lnTo>
                <a:lnTo>
                  <a:pt x="0" y="3099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ACD3B70-9CC2-2C96-72AB-69E0E4E48277}"/>
              </a:ext>
            </a:extLst>
          </p:cNvPr>
          <p:cNvSpPr txBox="1"/>
          <p:nvPr/>
        </p:nvSpPr>
        <p:spPr>
          <a:xfrm>
            <a:off x="2907895" y="1211647"/>
            <a:ext cx="12300750" cy="7071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Light Up </a:t>
            </a:r>
          </a:p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en-US" sz="100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(Akari)</a:t>
            </a:r>
          </a:p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en-US" sz="100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Divide &amp; Conquer Approach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BACD28B-3E91-43BE-B918-2B0A5508C80D}"/>
              </a:ext>
            </a:extLst>
          </p:cNvPr>
          <p:cNvSpPr/>
          <p:nvPr/>
        </p:nvSpPr>
        <p:spPr>
          <a:xfrm>
            <a:off x="15011400" y="6733093"/>
            <a:ext cx="2011819" cy="3099442"/>
          </a:xfrm>
          <a:custGeom>
            <a:avLst/>
            <a:gdLst/>
            <a:ahLst/>
            <a:cxnLst/>
            <a:rect l="l" t="t" r="r" b="b"/>
            <a:pathLst>
              <a:path w="2011819" h="3099442">
                <a:moveTo>
                  <a:pt x="0" y="0"/>
                </a:moveTo>
                <a:lnTo>
                  <a:pt x="2011819" y="0"/>
                </a:lnTo>
                <a:lnTo>
                  <a:pt x="2011819" y="3099442"/>
                </a:lnTo>
                <a:lnTo>
                  <a:pt x="0" y="3099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B77C8DA-921D-6913-BAE0-5DD60AB5BFDE}"/>
              </a:ext>
            </a:extLst>
          </p:cNvPr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92677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33A7A-6F21-3111-2F7E-5F8BCB5C9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90E90D7-2806-6E0E-67FC-81D262D06E85}"/>
              </a:ext>
            </a:extLst>
          </p:cNvPr>
          <p:cNvSpPr txBox="1"/>
          <p:nvPr/>
        </p:nvSpPr>
        <p:spPr>
          <a:xfrm>
            <a:off x="1752600" y="1562100"/>
            <a:ext cx="15468600" cy="951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Forced Constraint Propagation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: Divide phase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case : 2 x 2 grid (or) 2 x 1 grid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placing a bulb in each white cell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immediate violations, first locally, then globally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first valid placement greedily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Case :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separator </a:t>
            </a:r>
          </a:p>
          <a:p>
            <a:pPr marL="1943100" lvl="3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(Heuristic: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row/column with many black cells, tie – braker : Higher number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grid into:</a:t>
            </a:r>
          </a:p>
          <a:p>
            <a:pPr marL="2400300" lvl="4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G₁</a:t>
            </a:r>
          </a:p>
          <a:p>
            <a:pPr marL="2400300" lvl="4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Separator S</a:t>
            </a:r>
          </a:p>
          <a:p>
            <a:pPr marL="2400300" lvl="4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G₂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9754839-CFF9-968C-0D06-2C9485CF8F0B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The Algorithm</a:t>
            </a:r>
          </a:p>
        </p:txBody>
      </p:sp>
    </p:spTree>
    <p:extLst>
      <p:ext uri="{BB962C8B-B14F-4D97-AF65-F5344CB8AC3E}">
        <p14:creationId xmlns:p14="http://schemas.microsoft.com/office/powerpoint/2010/main" val="1345384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CC712-EA68-C383-EEE0-79CA6833C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36FDF8-5F6D-926A-EBC7-0A24676E843C}"/>
              </a:ext>
            </a:extLst>
          </p:cNvPr>
          <p:cNvSpPr txBox="1"/>
          <p:nvPr/>
        </p:nvSpPr>
        <p:spPr>
          <a:xfrm>
            <a:off x="1409700" y="1773346"/>
            <a:ext cx="154686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: Divide phase : Handing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Dependancy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we have two subproblems G1 and G2, but they are NOT INDEPENDENT. To solve this, we introduce “INTERFACE STATES”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separator white cell can be in 4 possible states:</a:t>
            </a:r>
          </a:p>
          <a:p>
            <a:pPr marL="2400300" lvl="4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Bulb placed (1)</a:t>
            </a:r>
          </a:p>
          <a:p>
            <a:pPr marL="2400300" lvl="4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Illuminated from left/up (2)</a:t>
            </a:r>
          </a:p>
          <a:p>
            <a:pPr marL="2400300" lvl="4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Illuminated from right/down (3)</a:t>
            </a:r>
          </a:p>
          <a:p>
            <a:pPr marL="2400300" lvl="4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illuminated / forbidden (4)</a:t>
            </a:r>
          </a:p>
          <a:p>
            <a:pPr lvl="3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interface state is a complete assignment of these states to all separator cells simultaneously. If S has n white cells, 4^n  possible I.S</a:t>
            </a:r>
          </a:p>
          <a:p>
            <a:pPr lvl="2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E09D95B3-65DC-5809-C584-FEBD027970B7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The Algorithm</a:t>
            </a:r>
          </a:p>
        </p:txBody>
      </p:sp>
    </p:spTree>
    <p:extLst>
      <p:ext uri="{BB962C8B-B14F-4D97-AF65-F5344CB8AC3E}">
        <p14:creationId xmlns:p14="http://schemas.microsoft.com/office/powerpoint/2010/main" val="2136906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62CFD-2B0E-827F-5961-C06A0D854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B199CD-2AC7-163F-AC77-F2F5B57618D8}"/>
              </a:ext>
            </a:extLst>
          </p:cNvPr>
          <p:cNvSpPr txBox="1"/>
          <p:nvPr/>
        </p:nvSpPr>
        <p:spPr>
          <a:xfrm>
            <a:off x="1409700" y="1773346"/>
            <a:ext cx="154686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: Divide phase : Handing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Dependancy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interface state I:</a:t>
            </a:r>
          </a:p>
          <a:p>
            <a:pPr marL="1943100" lvl="3" indent="-5715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boundary conditions to G₁ and G₂</a:t>
            </a:r>
          </a:p>
          <a:p>
            <a:pPr marL="1943100" lvl="3" indent="-5715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deduction locally</a:t>
            </a:r>
          </a:p>
          <a:p>
            <a:pPr marL="1943100" lvl="3" indent="-5715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contradiction occurs → discard I</a:t>
            </a:r>
          </a:p>
          <a:p>
            <a:pPr marL="1943100" lvl="3" indent="-5715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Recursively apply FindSafeBulb on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subgrids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43100" lvl="3" indent="-5715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Division continues until all branches reach 2×2 base cases</a:t>
            </a:r>
          </a:p>
          <a:p>
            <a:pPr marL="1943100" lvl="3" indent="-5715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placements bubble upward, first validate it with the local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subgrid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then gradually validate with the global one. Any contradiction -&gt;  Alter greedy placement</a:t>
            </a:r>
          </a:p>
          <a:p>
            <a:pPr marL="1943100" lvl="3" indent="-571500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contradiction invalidates the interface state, move to the next I.S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47B98A21-35A6-898A-4F8F-D47EA206DF08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The Algorithm</a:t>
            </a:r>
          </a:p>
        </p:txBody>
      </p:sp>
    </p:spTree>
    <p:extLst>
      <p:ext uri="{BB962C8B-B14F-4D97-AF65-F5344CB8AC3E}">
        <p14:creationId xmlns:p14="http://schemas.microsoft.com/office/powerpoint/2010/main" val="529250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67400-FC2E-63E1-7584-AE7692A8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FB7B3F-3851-7AB5-C9D6-2C62A74C5E10}"/>
              </a:ext>
            </a:extLst>
          </p:cNvPr>
          <p:cNvSpPr txBox="1"/>
          <p:nvPr/>
        </p:nvSpPr>
        <p:spPr>
          <a:xfrm>
            <a:off x="1409700" y="1773346"/>
            <a:ext cx="15468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: Divide phase : Handing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Dependancy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all I.S fails , then Choose a different separator, redo the algorithm with the new separator.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all separator fails -&gt; No safe move exists, so the puzzle is unsolvable.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8767AD55-19A0-43B4-27AF-F6FAC91719C3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The Algorithm</a:t>
            </a:r>
          </a:p>
        </p:txBody>
      </p:sp>
    </p:spTree>
    <p:extLst>
      <p:ext uri="{BB962C8B-B14F-4D97-AF65-F5344CB8AC3E}">
        <p14:creationId xmlns:p14="http://schemas.microsoft.com/office/powerpoint/2010/main" val="1158219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7416A-D188-141C-2C61-46CC5DCA3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69A1BF-6EA3-35E0-7DCE-C00074B702FA}"/>
                  </a:ext>
                </a:extLst>
              </p:cNvPr>
              <p:cNvSpPr txBox="1"/>
              <p:nvPr/>
            </p:nvSpPr>
            <p:spPr>
              <a:xfrm>
                <a:off x="4933950" y="1819515"/>
                <a:ext cx="8420100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number of white cells in the grid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number of black cells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size of a separator (number of white cells on it)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recursion depth (number of divisions)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number of interface states per separator cell (here,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69A1BF-6EA3-35E0-7DCE-C00074B70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3950" y="1819515"/>
                <a:ext cx="8420100" cy="3108543"/>
              </a:xfrm>
              <a:prstGeom prst="rect">
                <a:avLst/>
              </a:prstGeom>
              <a:blipFill>
                <a:blip r:embed="rId2"/>
                <a:stretch>
                  <a:fillRect l="-1447" t="-1961" r="-11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2">
            <a:extLst>
              <a:ext uri="{FF2B5EF4-FFF2-40B4-BE49-F238E27FC236}">
                <a16:creationId xmlns:a16="http://schemas.microsoft.com/office/drawing/2014/main" id="{68BCA37A-DE54-4FDB-439F-11EB8909FC37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A3DCB1-0B3C-8BAB-1DFE-4C03FD933A73}"/>
                  </a:ext>
                </a:extLst>
              </p:cNvPr>
              <p:cNvSpPr txBox="1"/>
              <p:nvPr/>
            </p:nvSpPr>
            <p:spPr>
              <a:xfrm>
                <a:off x="1295400" y="4928058"/>
                <a:ext cx="135636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 1 : Forced Constraints : </a:t>
                </a: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white and Black cells to be scanned.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</m:oMath>
                </a14:m>
                <a:endPara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A3DCB1-0B3C-8BAB-1DFE-4C03FD933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928058"/>
                <a:ext cx="13563600" cy="523220"/>
              </a:xfrm>
              <a:prstGeom prst="rect">
                <a:avLst/>
              </a:prstGeom>
              <a:blipFill>
                <a:blip r:embed="rId3"/>
                <a:stretch>
                  <a:fillRect l="-944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FBB254-4F50-5246-B791-A83BE438CD66}"/>
                  </a:ext>
                </a:extLst>
              </p:cNvPr>
              <p:cNvSpPr txBox="1"/>
              <p:nvPr/>
            </p:nvSpPr>
            <p:spPr>
              <a:xfrm>
                <a:off x="12420600" y="4989613"/>
                <a:ext cx="2286000" cy="46166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𝑂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FBB254-4F50-5246-B791-A83BE438C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0600" y="4989613"/>
                <a:ext cx="2286000" cy="461665"/>
              </a:xfrm>
              <a:prstGeom prst="rect">
                <a:avLst/>
              </a:prstGeom>
              <a:blipFill>
                <a:blip r:embed="rId4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F9B88DE-162E-46F2-477C-9049197E9FC8}"/>
              </a:ext>
            </a:extLst>
          </p:cNvPr>
          <p:cNvSpPr txBox="1"/>
          <p:nvPr/>
        </p:nvSpPr>
        <p:spPr>
          <a:xfrm>
            <a:off x="1295400" y="5731031"/>
            <a:ext cx="13563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State Explosion</a:t>
            </a:r>
          </a:p>
          <a:p>
            <a:pPr lvl="3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separator with white cells: Each cell has 4 possible interface states.</a:t>
            </a:r>
          </a:p>
          <a:p>
            <a:pPr lvl="3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interface states: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91A989-DC3E-A6E4-1BB4-0459D5395949}"/>
                  </a:ext>
                </a:extLst>
              </p:cNvPr>
              <p:cNvSpPr txBox="1"/>
              <p:nvPr/>
            </p:nvSpPr>
            <p:spPr>
              <a:xfrm>
                <a:off x="6324600" y="6653142"/>
                <a:ext cx="2286000" cy="462884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p>
                      </m:sSup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491A989-DC3E-A6E4-1BB4-0459D5395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6653142"/>
                <a:ext cx="2286000" cy="4628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3023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3E943-B493-58E4-233C-2ED0BE3E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8DFE62-91A0-A538-C0AF-1858ADA742D5}"/>
                  </a:ext>
                </a:extLst>
              </p:cNvPr>
              <p:cNvSpPr txBox="1"/>
              <p:nvPr/>
            </p:nvSpPr>
            <p:spPr>
              <a:xfrm>
                <a:off x="4933950" y="1629207"/>
                <a:ext cx="8420100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number of white cells in the grid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number of black cells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size of a separator (number of white cells on it)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recursion depth (number of divisions)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number of interface states per separator cell (here,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8DFE62-91A0-A538-C0AF-1858ADA742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3950" y="1629207"/>
                <a:ext cx="8420100" cy="3108543"/>
              </a:xfrm>
              <a:prstGeom prst="rect">
                <a:avLst/>
              </a:prstGeom>
              <a:blipFill>
                <a:blip r:embed="rId2"/>
                <a:stretch>
                  <a:fillRect l="-1447" t="-1961" r="-11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2">
            <a:extLst>
              <a:ext uri="{FF2B5EF4-FFF2-40B4-BE49-F238E27FC236}">
                <a16:creationId xmlns:a16="http://schemas.microsoft.com/office/drawing/2014/main" id="{550731F3-EFB1-6051-3D2A-6A65E4E9A0AE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078A1A-49A0-723E-C59D-CD93C6B12C4F}"/>
                  </a:ext>
                </a:extLst>
              </p:cNvPr>
              <p:cNvSpPr txBox="1"/>
              <p:nvPr/>
            </p:nvSpPr>
            <p:spPr>
              <a:xfrm>
                <a:off x="4461396" y="4305300"/>
                <a:ext cx="9144000" cy="44026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 3 : Recursive Structure Cost</a:t>
                </a:r>
              </a:p>
              <a:p>
                <a:pPr>
                  <a:buNone/>
                </a:pPr>
                <a:endParaRPr lang="en-IN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each recursive level: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Choose separator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p>
                  </m:oMath>
                </a14:m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interface states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interface state:</a:t>
                </a:r>
              </a:p>
              <a:p>
                <a:pPr marL="1371600" lvl="2" indent="-457200">
                  <a:buFont typeface="+mj-lt"/>
                  <a:buAutoNum type="arabicParenR"/>
                </a:pP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 boundary conditions</a:t>
                </a:r>
              </a:p>
              <a:p>
                <a:pPr marL="1371600" lvl="2" indent="-457200">
                  <a:buFont typeface="+mj-lt"/>
                  <a:buAutoNum type="arabicParenR"/>
                </a:pP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Run deduction</a:t>
                </a:r>
              </a:p>
              <a:p>
                <a:pPr marL="1371600" lvl="2" indent="-457200">
                  <a:buFont typeface="+mj-lt"/>
                  <a:buAutoNum type="arabicParenR"/>
                </a:pP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Recurse on </a:t>
                </a:r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</a:t>
                </a:r>
                <a:r>
                  <a:rPr lang="en-IN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subgrids</a:t>
                </a:r>
                <a:endPara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gives the recurrence: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078A1A-49A0-723E-C59D-CD93C6B12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396" y="4305300"/>
                <a:ext cx="9144000" cy="4402615"/>
              </a:xfrm>
              <a:prstGeom prst="rect">
                <a:avLst/>
              </a:prstGeom>
              <a:blipFill>
                <a:blip r:embed="rId3"/>
                <a:stretch>
                  <a:fillRect l="-1400" t="-1385" b="-30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32CA-94A6-42A7-D6F4-907D4AF6C881}"/>
                  </a:ext>
                </a:extLst>
              </p:cNvPr>
              <p:cNvSpPr txBox="1"/>
              <p:nvPr/>
            </p:nvSpPr>
            <p:spPr>
              <a:xfrm>
                <a:off x="4461396" y="8953500"/>
                <a:ext cx="9372600" cy="8785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ar-AE" sz="240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ar-AE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ar-AE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ar-AE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32CA-94A6-42A7-D6F4-907D4AF6C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396" y="8953500"/>
                <a:ext cx="9372600" cy="8785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4244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47074-A5DB-46BD-2071-A3D74CA76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5E443846-0C3D-EB85-EABD-C621573DC83A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F9CA67-3B31-1966-3D7E-AAE0A882B495}"/>
                  </a:ext>
                </a:extLst>
              </p:cNvPr>
              <p:cNvSpPr txBox="1"/>
              <p:nvPr/>
            </p:nvSpPr>
            <p:spPr>
              <a:xfrm>
                <a:off x="3581400" y="1360307"/>
                <a:ext cx="13411200" cy="8710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Proof of Correctness:</a:t>
                </a:r>
              </a:p>
              <a:p>
                <a:pPr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Claim:</a:t>
                </a:r>
                <a:b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Divide &amp; Conquer phase returns a bulb placement </a:t>
                </a: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only if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it is globally safe.</a:t>
                </a:r>
                <a:b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Argument</a:t>
                </a:r>
              </a:p>
              <a:p>
                <a:pPr lvl="1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the grid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divided by a separator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into </a:t>
                </a:r>
                <a:r>
                  <a:rPr lang="en-I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subgrids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Interface State Exhaustiveness</a:t>
                </a:r>
                <a:b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separator white cell has exactly </a:t>
                </a: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possible states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b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00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000" i="0">
                        <a:latin typeface="Cambria Math" panose="02040503050406030204" pitchFamily="18" charset="0"/>
                      </a:rPr>
                      <m:t>∣=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algorithm enumerates all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ar-AE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interface states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covering every possible interaction across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/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Local Validity Under Fixed Interface</a:t>
                </a:r>
                <a:b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given interface state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recursive calls compute: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Valid</m:t>
                      </m:r>
                      <m:d>
                        <m:d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ar-AE" sz="20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and</m:t>
                      </m:r>
                      <m:r>
                        <a:rPr lang="en-IN" sz="20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Valid</m:t>
                      </m:r>
                      <m:d>
                        <m:d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ar-AE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either </a:t>
                </a:r>
                <a:r>
                  <a:rPr lang="en-IN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subgrid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violates constraints,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discarded.</a:t>
                </a:r>
              </a:p>
              <a:p>
                <a:pPr lvl="1"/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Global Consistency Condition</a:t>
                </a:r>
                <a:b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placement is accepted </a:t>
                </a: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only if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m:rPr>
                          <m:nor/>
                        </m:rPr>
                        <a:rPr lang="en-IN" sz="20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  </m:t>
                      </m:r>
                      <m:r>
                        <m:rPr>
                          <m:nor/>
                        </m:rPr>
                        <a:rPr lang="en-IN" sz="20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IN" sz="20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IN" sz="20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IN" sz="20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.  </m:t>
                      </m:r>
                      <m:r>
                        <m:rPr>
                          <m:nor/>
                        </m:rPr>
                        <a:rPr lang="en-IN" sz="20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Valid</m:t>
                      </m:r>
                      <m:d>
                        <m:d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ar-AE" sz="2000" b="0" i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nor/>
                        </m:rPr>
                        <a:rPr lang="en-IN" sz="20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Valid</m:t>
                      </m:r>
                      <m:d>
                        <m:d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</m:oMath>
                  </m:oMathPara>
                </a14:m>
                <a:endParaRPr lang="ar-AE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ensuring consistency across the separator.</a:t>
                </a:r>
              </a:p>
              <a:p>
                <a:pPr lvl="1"/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Completeness</a:t>
                </a:r>
                <a:b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interface states are tested, any globally valid configuration must be discovered.</a:t>
                </a:r>
              </a:p>
              <a:p>
                <a:pPr>
                  <a:buNone/>
                </a:pPr>
                <a:b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Conclusion</a:t>
                </a:r>
              </a:p>
              <a:p>
                <a:pPr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algorithm returns a placement, it belongs to at least one globally valid solution.</a:t>
                </a:r>
                <a:b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all interface states fail, no globally safe placement exists.</a:t>
                </a:r>
              </a:p>
              <a:p>
                <a:pPr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Hence, the Divide &amp; Conquer phase is correct.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F9CA67-3B31-1966-3D7E-AAE0A882B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1360307"/>
                <a:ext cx="13411200" cy="8710077"/>
              </a:xfrm>
              <a:prstGeom prst="rect">
                <a:avLst/>
              </a:prstGeom>
              <a:blipFill>
                <a:blip r:embed="rId2"/>
                <a:stretch>
                  <a:fillRect l="-500" t="-3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354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4B09B-8EF7-4805-85C0-710D36D6E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889AF9FC-BDEF-124E-4FBB-32D15EB0F281}"/>
              </a:ext>
            </a:extLst>
          </p:cNvPr>
          <p:cNvSpPr txBox="1"/>
          <p:nvPr/>
        </p:nvSpPr>
        <p:spPr>
          <a:xfrm>
            <a:off x="1295400" y="190500"/>
            <a:ext cx="15430500" cy="116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Improvements from the Greedy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5A7622-D246-EE84-5438-8B5B5CD562EC}"/>
              </a:ext>
            </a:extLst>
          </p:cNvPr>
          <p:cNvSpPr txBox="1"/>
          <p:nvPr/>
        </p:nvSpPr>
        <p:spPr>
          <a:xfrm>
            <a:off x="1524000" y="2552700"/>
            <a:ext cx="762000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Graph-Based Algorithm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visibility and constraint graphs and uses BFS for propagation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Chooses bulb positions based on local heuristics such as maximum visibility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Prioritizes large unlit regions and places bulbs greedily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 are final and cannot be revised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only with immediate, local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block low-visibility but essential cells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fail even when a valid solution exists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simple, but does not guarantee correctness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392A57-2536-157C-4829-BE0F204A40F5}"/>
              </a:ext>
            </a:extLst>
          </p:cNvPr>
          <p:cNvSpPr txBox="1"/>
          <p:nvPr/>
        </p:nvSpPr>
        <p:spPr>
          <a:xfrm>
            <a:off x="9448800" y="2469500"/>
            <a:ext cx="8229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&amp; Conquer Algorithm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logical deduction first, then uses recursive grid decomposition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Splits the grid using separators to manage long-range illumination effects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Explicitly considers all interface states (4 per separator cell)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bulb is placed only if it remains valid under all recursive checks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contradictions early and rejects unsafe moves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Guarantees safe bulb placement at every step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computationally expensive, but logically reliable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0DC62D-4481-6936-70BD-25205B328B8C}"/>
              </a:ext>
            </a:extLst>
          </p:cNvPr>
          <p:cNvSpPr txBox="1"/>
          <p:nvPr/>
        </p:nvSpPr>
        <p:spPr>
          <a:xfrm>
            <a:off x="4419600" y="7816877"/>
            <a:ext cx="9144000" cy="120032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greedy approach is efficient but unsafe, while the Divide &amp; Conquer approach sacrifices speed to guarantee correctness by validating every move against all possible global interactions.</a:t>
            </a:r>
          </a:p>
        </p:txBody>
      </p:sp>
    </p:spTree>
    <p:extLst>
      <p:ext uri="{BB962C8B-B14F-4D97-AF65-F5344CB8AC3E}">
        <p14:creationId xmlns:p14="http://schemas.microsoft.com/office/powerpoint/2010/main" val="4243287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1813</Words>
  <Application>Microsoft Office PowerPoint</Application>
  <PresentationFormat>Custom</PresentationFormat>
  <Paragraphs>263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Times New Roman</vt:lpstr>
      <vt:lpstr>Times New Roman MT</vt:lpstr>
      <vt:lpstr>Arial</vt:lpstr>
      <vt:lpstr>Wingdings</vt:lpstr>
      <vt:lpstr>Canva Sans</vt:lpstr>
      <vt:lpstr>Times New Roman Bold</vt:lpstr>
      <vt:lpstr>Courier New</vt:lpstr>
      <vt:lpstr>Aptos Display</vt:lpstr>
      <vt:lpstr>Calibri</vt:lpstr>
      <vt:lpstr>Cambria Math</vt:lpstr>
      <vt:lpstr>Times New Roman MT Bold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 Up (Akari)</dc:title>
  <dc:creator>Arun</dc:creator>
  <cp:lastModifiedBy>arunpravinap127@gmail.com</cp:lastModifiedBy>
  <cp:revision>6</cp:revision>
  <dcterms:created xsi:type="dcterms:W3CDTF">2006-08-16T00:00:00Z</dcterms:created>
  <dcterms:modified xsi:type="dcterms:W3CDTF">2026-02-18T08:27:38Z</dcterms:modified>
  <dc:identifier>DAG7sRJj9GY</dc:identifier>
</cp:coreProperties>
</file>